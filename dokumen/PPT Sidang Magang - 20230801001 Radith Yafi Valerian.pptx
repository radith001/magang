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4" r:id="rId11"/>
    <p:sldId id="266" r:id="rId12"/>
    <p:sldId id="267" r:id="rId13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  <p:embeddedFont>
      <p:font typeface="Roboto Condensed" panose="02000000000000000000" pitchFamily="2" charset="0"/>
      <p:regular r:id="rId23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wxXZT4BjQ3BKdPsUNG9/nzfsC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8B6641-1E7A-44C2-8A08-DAAED0D596AA}">
  <a:tblStyle styleId="{BE8B6641-1E7A-44C2-8A08-DAAED0D596A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0521F63E-814B-DF3B-8D74-E7CEA621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>
            <a:extLst>
              <a:ext uri="{FF2B5EF4-FFF2-40B4-BE49-F238E27FC236}">
                <a16:creationId xmlns:a16="http://schemas.microsoft.com/office/drawing/2014/main" id="{A1767035-1155-ABCA-866F-495D91E43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p31:notes">
            <a:extLst>
              <a:ext uri="{FF2B5EF4-FFF2-40B4-BE49-F238E27FC236}">
                <a16:creationId xmlns:a16="http://schemas.microsoft.com/office/drawing/2014/main" id="{C3A12460-85DE-B5B1-F591-0E4A48602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2061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" name="Google Shape;2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71"/>
            <a:ext cx="15182056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968" b="-5316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20453" y="0"/>
            <a:ext cx="4640334" cy="1564764"/>
          </a:xfrm>
          <a:custGeom>
            <a:avLst/>
            <a:gdLst/>
            <a:ahLst/>
            <a:cxnLst/>
            <a:rect l="l" t="t" r="r" b="b"/>
            <a:pathLst>
              <a:path w="4640334" h="1564764" extrusionOk="0">
                <a:moveTo>
                  <a:pt x="0" y="0"/>
                </a:moveTo>
                <a:lnTo>
                  <a:pt x="4640334" y="0"/>
                </a:lnTo>
                <a:lnTo>
                  <a:pt x="4640334" y="1564764"/>
                </a:lnTo>
                <a:lnTo>
                  <a:pt x="0" y="156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9216472" y="1089142"/>
            <a:ext cx="86214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d-ID" sz="2800" b="1" dirty="0">
                <a:latin typeface="Poppins" panose="00000500000000000000" pitchFamily="2" charset="0"/>
                <a:cs typeface="Poppins" panose="00000500000000000000" pitchFamily="2" charset="0"/>
              </a:rPr>
              <a:t>PERANCAGAN DAN IMPLEMENTASI SISTEM INFORMASI MANAJEMEN GANGGUAN PELANGGAN INTERNET SERVICE PROVIDER (ISP) BERBASIS WEB 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id-ID" sz="2800" b="1" dirty="0">
                <a:latin typeface="Poppins" panose="00000500000000000000" pitchFamily="2" charset="0"/>
                <a:cs typeface="Poppins" panose="00000500000000000000" pitchFamily="2" charset="0"/>
              </a:rPr>
              <a:t>STUDI KASUS PT BINA RAJA SOLUSI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13895826" y="3867076"/>
            <a:ext cx="3363474" cy="992307"/>
            <a:chOff x="0" y="-57150"/>
            <a:chExt cx="776700" cy="23342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76644" cy="176276"/>
            </a:xfrm>
            <a:custGeom>
              <a:avLst/>
              <a:gdLst/>
              <a:ahLst/>
              <a:cxnLst/>
              <a:rect l="l" t="t" r="r" b="b"/>
              <a:pathLst>
                <a:path w="776644" h="176276" extrusionOk="0">
                  <a:moveTo>
                    <a:pt x="68261" y="0"/>
                  </a:moveTo>
                  <a:lnTo>
                    <a:pt x="708383" y="0"/>
                  </a:lnTo>
                  <a:cubicBezTo>
                    <a:pt x="746082" y="0"/>
                    <a:pt x="776644" y="30562"/>
                    <a:pt x="776644" y="68261"/>
                  </a:cubicBezTo>
                  <a:lnTo>
                    <a:pt x="776644" y="108015"/>
                  </a:lnTo>
                  <a:cubicBezTo>
                    <a:pt x="776644" y="126119"/>
                    <a:pt x="769452" y="143482"/>
                    <a:pt x="756651" y="156283"/>
                  </a:cubicBezTo>
                  <a:cubicBezTo>
                    <a:pt x="743849" y="169085"/>
                    <a:pt x="726487" y="176276"/>
                    <a:pt x="708383" y="176276"/>
                  </a:cubicBezTo>
                  <a:lnTo>
                    <a:pt x="68261" y="176276"/>
                  </a:lnTo>
                  <a:cubicBezTo>
                    <a:pt x="50157" y="176276"/>
                    <a:pt x="32795" y="169085"/>
                    <a:pt x="19993" y="156283"/>
                  </a:cubicBezTo>
                  <a:cubicBezTo>
                    <a:pt x="7192" y="143482"/>
                    <a:pt x="0" y="126119"/>
                    <a:pt x="0" y="108015"/>
                  </a:cubicBezTo>
                  <a:lnTo>
                    <a:pt x="0" y="68261"/>
                  </a:lnTo>
                  <a:cubicBezTo>
                    <a:pt x="0" y="50157"/>
                    <a:pt x="7192" y="32795"/>
                    <a:pt x="19993" y="19993"/>
                  </a:cubicBezTo>
                  <a:cubicBezTo>
                    <a:pt x="32795" y="7192"/>
                    <a:pt x="50157" y="0"/>
                    <a:pt x="68261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57150"/>
              <a:ext cx="7767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9040678" y="9741338"/>
            <a:ext cx="821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 i="0" u="none" strike="noStrike" cap="none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FAKULTAS ILMU KOMPUTER UNIVERSITAS ESA UNGGUL</a:t>
            </a:r>
            <a:endParaRPr sz="2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4103149" y="4285176"/>
            <a:ext cx="2956941" cy="43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Dosen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Pembimbing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2579704" y="5015157"/>
            <a:ext cx="59954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d-ID" sz="2400" b="1" dirty="0">
                <a:latin typeface="Poppins" panose="00000500000000000000" pitchFamily="2" charset="0"/>
                <a:cs typeface="Poppins" panose="00000500000000000000" pitchFamily="2" charset="0"/>
              </a:rPr>
              <a:t>Ranny Meilisa, S.Kom., M.Pd.T. </a:t>
            </a:r>
            <a:endParaRPr lang="en-ID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877159" y="7156068"/>
            <a:ext cx="5381898" cy="185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Radith Yafi Valerian</a:t>
            </a:r>
            <a:endParaRPr sz="2399" b="1" i="0" u="none" strike="noStrike" cap="none" dirty="0">
              <a:solidFill>
                <a:srgbClr val="1314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20230801001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TEKNIK INFORMATIKA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5818306" y="847582"/>
            <a:ext cx="6651385" cy="1270640"/>
            <a:chOff x="0" y="-57150"/>
            <a:chExt cx="1747717" cy="287364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7872236" y="873919"/>
            <a:ext cx="2543524" cy="115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33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Latar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Belakang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521460" y="2795464"/>
            <a:ext cx="17117277" cy="7115942"/>
            <a:chOff x="-50283" y="9371"/>
            <a:chExt cx="1696844" cy="298149"/>
          </a:xfrm>
        </p:grpSpPr>
        <p:sp>
          <p:nvSpPr>
            <p:cNvPr id="112" name="Google Shape;112;p2"/>
            <p:cNvSpPr/>
            <p:nvPr/>
          </p:nvSpPr>
          <p:spPr>
            <a:xfrm>
              <a:off x="-50283" y="9371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-37614" y="20156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285750" marR="0" lvl="0" indent="-28575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dirty="0"/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225164" y="3375399"/>
            <a:ext cx="10555554" cy="428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6001"/>
              </a:lnSpc>
              <a:buSzPts val="2800"/>
            </a:pP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internet pada BRS NET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menuntut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terpusat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Saat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gangguan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(WhatsApp).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terpusat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menyulitkan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tiket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sulit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membedakan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Resolved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lain,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koordinat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presisi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kesulitan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membuang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Selain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memperlambat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konvensional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kehilangan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riwayat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dan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duplikasi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579125" y="9533712"/>
            <a:ext cx="11040428" cy="753288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5611DA-C6AD-9023-423D-237D44580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306" y="3060884"/>
            <a:ext cx="3685152" cy="491353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3" name="Google Shape;123;p5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24" name="Google Shape;124;p5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5"/>
          <p:cNvSpPr txBox="1"/>
          <p:nvPr/>
        </p:nvSpPr>
        <p:spPr>
          <a:xfrm>
            <a:off x="5579125" y="1252045"/>
            <a:ext cx="7304462" cy="57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Profil PT Bina Raja Solusi</a:t>
            </a:r>
            <a:endParaRPr sz="3200" b="1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5"/>
          <p:cNvGrpSpPr/>
          <p:nvPr/>
        </p:nvGrpSpPr>
        <p:grpSpPr>
          <a:xfrm>
            <a:off x="189105" y="2725540"/>
            <a:ext cx="17384935" cy="7270266"/>
            <a:chOff x="-39202" y="0"/>
            <a:chExt cx="1723377" cy="304615"/>
          </a:xfrm>
        </p:grpSpPr>
        <p:sp>
          <p:nvSpPr>
            <p:cNvPr id="129" name="Google Shape;129;p5"/>
            <p:cNvSpPr/>
            <p:nvPr/>
          </p:nvSpPr>
          <p:spPr>
            <a:xfrm>
              <a:off x="0" y="0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-39202" y="17251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285750" marR="0" lvl="0" indent="-28575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131" name="Google Shape;131;p5"/>
          <p:cNvSpPr txBox="1"/>
          <p:nvPr/>
        </p:nvSpPr>
        <p:spPr>
          <a:xfrm>
            <a:off x="1060241" y="2913447"/>
            <a:ext cx="10663866" cy="52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Mitra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Jaringan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Telekomunikasi</a:t>
            </a:r>
            <a:endParaRPr dirty="0"/>
          </a:p>
          <a:p>
            <a:pPr marL="0" marR="0" lvl="0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 Bina Raja Solusi (BRS)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adalah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mitra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resmi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ISP Media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Cepat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Indonesia (MCI) yang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berfokus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pada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pendistribusian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bandwidth dan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infrastruktur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fiber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optik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Fokus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Operasional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Balaraja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sekitarnya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Layanan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Pemasangan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baru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atau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instalasi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pelanggan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ingin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berlangganan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pemeliharaan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router, dan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perbaikan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fisik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infrastruktur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Visi: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Memaksimalkan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penetrasi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jaringan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tata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kelola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infrastruktur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tangguh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terpadu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Misi: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Pemasaran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proaktif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penguatan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infrastruktur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fisik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percepatan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penanganan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gangguan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tanggap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darurat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dan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digitalisasi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operasional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45241" y="3933827"/>
            <a:ext cx="44577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9" name="Google Shape;139;p25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40" name="Google Shape;140;p25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25"/>
          <p:cNvSpPr txBox="1"/>
          <p:nvPr/>
        </p:nvSpPr>
        <p:spPr>
          <a:xfrm>
            <a:off x="5579125" y="1216389"/>
            <a:ext cx="7121182" cy="64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Tujuan Utama Sistem</a:t>
            </a:r>
            <a:endParaRPr sz="3600" b="1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25"/>
          <p:cNvGrpSpPr/>
          <p:nvPr/>
        </p:nvGrpSpPr>
        <p:grpSpPr>
          <a:xfrm>
            <a:off x="644978" y="2700910"/>
            <a:ext cx="16989476" cy="7338550"/>
            <a:chOff x="0" y="0"/>
            <a:chExt cx="1684175" cy="307476"/>
          </a:xfrm>
        </p:grpSpPr>
        <p:sp>
          <p:nvSpPr>
            <p:cNvPr id="145" name="Google Shape;145;p25"/>
            <p:cNvSpPr/>
            <p:nvPr/>
          </p:nvSpPr>
          <p:spPr>
            <a:xfrm>
              <a:off x="0" y="0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5"/>
            <p:cNvSpPr txBox="1"/>
            <p:nvPr/>
          </p:nvSpPr>
          <p:spPr>
            <a:xfrm>
              <a:off x="0" y="20112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285750" marR="0" lvl="0" indent="-28575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147" name="Google Shape;147;p25"/>
          <p:cNvSpPr txBox="1"/>
          <p:nvPr/>
        </p:nvSpPr>
        <p:spPr>
          <a:xfrm>
            <a:off x="1498007" y="3593225"/>
            <a:ext cx="4052918" cy="285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Efisiensi</a:t>
            </a:r>
            <a:r>
              <a:rPr lang="en-US" sz="3200" b="1" i="0" u="none" strike="noStrike" cap="none" dirty="0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Waktu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Respons</a:t>
            </a:r>
            <a:endParaRPr lang="en-US" sz="3200" b="1" i="0" u="none" strike="noStrike" cap="none" dirty="0">
              <a:solidFill>
                <a:srgbClr val="FFFFFF"/>
              </a:solidFill>
              <a:highlight>
                <a:srgbClr val="80808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6001"/>
              </a:lnSpc>
            </a:pP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Mempercepat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tiket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terstruktur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dilacak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6403954" y="3362591"/>
            <a:ext cx="4722223" cy="3519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Sentralisasi</a:t>
            </a:r>
            <a:r>
              <a:rPr lang="en-US" sz="3600" b="1" i="0" u="none" strike="noStrike" cap="none" dirty="0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Digitalisasi</a:t>
            </a:r>
            <a:endParaRPr dirty="0"/>
          </a:p>
          <a:p>
            <a:pPr lvl="0" algn="ctr">
              <a:lnSpc>
                <a:spcPct val="116001"/>
              </a:lnSpc>
            </a:pP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back-office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terpadu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mendigitalisasi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alur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gangguan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11779722" y="3616982"/>
            <a:ext cx="4839788" cy="2448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Integrasi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highlight>
                  <a:srgbClr val="8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Geospasial</a:t>
            </a:r>
            <a:endParaRPr dirty="0"/>
          </a:p>
          <a:p>
            <a:pPr lvl="0" algn="ctr">
              <a:lnSpc>
                <a:spcPct val="116001"/>
              </a:lnSpc>
            </a:pP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Mengintegrasikan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koordinat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memandu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mobilitas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50" name="Google Shape;150;p25"/>
          <p:cNvCxnSpPr/>
          <p:nvPr/>
        </p:nvCxnSpPr>
        <p:spPr>
          <a:xfrm>
            <a:off x="6244046" y="3958046"/>
            <a:ext cx="0" cy="2500804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25"/>
          <p:cNvCxnSpPr/>
          <p:nvPr/>
        </p:nvCxnSpPr>
        <p:spPr>
          <a:xfrm>
            <a:off x="11504023" y="3958046"/>
            <a:ext cx="0" cy="2500804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8" name="Google Shape;158;p26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59" name="Google Shape;159;p26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26"/>
          <p:cNvSpPr txBox="1"/>
          <p:nvPr/>
        </p:nvSpPr>
        <p:spPr>
          <a:xfrm>
            <a:off x="5583409" y="1287760"/>
            <a:ext cx="7121182" cy="57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Teknologi Pengembangan</a:t>
            </a:r>
            <a:endParaRPr sz="3200" b="1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26"/>
          <p:cNvGrpSpPr/>
          <p:nvPr/>
        </p:nvGrpSpPr>
        <p:grpSpPr>
          <a:xfrm>
            <a:off x="649262" y="2563513"/>
            <a:ext cx="16989476" cy="7723491"/>
            <a:chOff x="0" y="0"/>
            <a:chExt cx="1684175" cy="307476"/>
          </a:xfrm>
        </p:grpSpPr>
        <p:sp>
          <p:nvSpPr>
            <p:cNvPr id="164" name="Google Shape;164;p26"/>
            <p:cNvSpPr/>
            <p:nvPr/>
          </p:nvSpPr>
          <p:spPr>
            <a:xfrm>
              <a:off x="0" y="0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6"/>
            <p:cNvSpPr txBox="1"/>
            <p:nvPr/>
          </p:nvSpPr>
          <p:spPr>
            <a:xfrm>
              <a:off x="0" y="20112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6"/>
          <p:cNvSpPr txBox="1"/>
          <p:nvPr/>
        </p:nvSpPr>
        <p:spPr>
          <a:xfrm>
            <a:off x="1721653" y="3179789"/>
            <a:ext cx="6375441" cy="289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Backend &amp; </a:t>
            </a:r>
            <a:r>
              <a:rPr lang="en-US" sz="2800" b="1" dirty="0" err="1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keranga</a:t>
            </a:r>
            <a:r>
              <a:rPr lang="en-US" sz="2800" b="1" dirty="0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Kerja</a:t>
            </a:r>
            <a:endParaRPr dirty="0"/>
          </a:p>
          <a:p>
            <a:pPr marL="0" marR="0" lvl="1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PHP 8.3 &amp; Laravel 11</a:t>
            </a:r>
            <a:endParaRPr dirty="0"/>
          </a:p>
          <a:p>
            <a:pPr marL="342900" lvl="1" indent="-342900" algn="just">
              <a:lnSpc>
                <a:spcPct val="116001"/>
              </a:lnSpc>
              <a:buSzPts val="2400"/>
              <a:buFont typeface="Noto Sans Symbols"/>
              <a:buChar char="❑"/>
            </a:pP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Panel: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Filament PHP (Integrasi TALL Stack: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CSS, Alpine.js, Laravel, Livewire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marR="0" lvl="1" indent="-34290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endParaRPr dirty="0"/>
          </a:p>
        </p:txBody>
      </p:sp>
      <p:sp>
        <p:nvSpPr>
          <p:cNvPr id="167" name="Google Shape;167;p26"/>
          <p:cNvSpPr txBox="1"/>
          <p:nvPr/>
        </p:nvSpPr>
        <p:spPr>
          <a:xfrm>
            <a:off x="9169485" y="3176055"/>
            <a:ext cx="7124419" cy="3236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&amp;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highlight>
                  <a:srgbClr val="000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Infrastruktur</a:t>
            </a:r>
            <a:endParaRPr dirty="0"/>
          </a:p>
          <a:p>
            <a:pPr marL="0" marR="0" lvl="1" indent="0" algn="just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MySQL / MariaDB (Relational)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DB: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Terdistribusi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pemisahan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Read/Write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</a:t>
            </a: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Docker Containerization (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docker-compose)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Integrasi </a:t>
            </a:r>
            <a:r>
              <a:rPr lang="en-ID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Eksternal</a:t>
            </a:r>
            <a:r>
              <a:rPr lang="en-ID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URL Routing</a:t>
            </a:r>
            <a:endParaRPr lang="en-ID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8" name="Google Shape;168;p26"/>
          <p:cNvCxnSpPr/>
          <p:nvPr/>
        </p:nvCxnSpPr>
        <p:spPr>
          <a:xfrm>
            <a:off x="8464731" y="3853543"/>
            <a:ext cx="0" cy="29652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5" name="Google Shape;175;p27"/>
          <p:cNvGrpSpPr/>
          <p:nvPr/>
        </p:nvGrpSpPr>
        <p:grpSpPr>
          <a:xfrm>
            <a:off x="649262" y="721153"/>
            <a:ext cx="7727880" cy="1270640"/>
            <a:chOff x="0" y="-57150"/>
            <a:chExt cx="1747717" cy="287364"/>
          </a:xfrm>
        </p:grpSpPr>
        <p:sp>
          <p:nvSpPr>
            <p:cNvPr id="176" name="Google Shape;176;p27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7"/>
          <p:cNvSpPr txBox="1"/>
          <p:nvPr/>
        </p:nvSpPr>
        <p:spPr>
          <a:xfrm>
            <a:off x="948327" y="1064260"/>
            <a:ext cx="7121182" cy="82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Hasil &amp; Pembahasan</a:t>
            </a:r>
            <a:endParaRPr/>
          </a:p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Implementasi Portal Pelanggan dan Web Panel Administrator</a:t>
            </a:r>
            <a:endParaRPr sz="1400" b="1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27"/>
          <p:cNvGrpSpPr/>
          <p:nvPr/>
        </p:nvGrpSpPr>
        <p:grpSpPr>
          <a:xfrm>
            <a:off x="649262" y="2305699"/>
            <a:ext cx="16989476" cy="8757300"/>
            <a:chOff x="0" y="0"/>
            <a:chExt cx="1684175" cy="307476"/>
          </a:xfrm>
        </p:grpSpPr>
        <p:sp>
          <p:nvSpPr>
            <p:cNvPr id="181" name="Google Shape;181;p27"/>
            <p:cNvSpPr/>
            <p:nvPr/>
          </p:nvSpPr>
          <p:spPr>
            <a:xfrm>
              <a:off x="0" y="0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0" y="20112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27"/>
          <p:cNvSpPr txBox="1"/>
          <p:nvPr/>
        </p:nvSpPr>
        <p:spPr>
          <a:xfrm>
            <a:off x="1721653" y="3179789"/>
            <a:ext cx="6375441" cy="4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8429917" y="1140612"/>
            <a:ext cx="5449231" cy="66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Landing Page &amp; Login Page</a:t>
            </a:r>
            <a:endParaRPr sz="32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501EE-D7AA-49AB-335A-804558610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2317" y="2564608"/>
            <a:ext cx="5207782" cy="2361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CC4F23-75E2-E727-E5B3-EBFFED0B20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317" y="5071845"/>
            <a:ext cx="3305620" cy="3551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0EE1FA-6C28-AE40-2B26-185C17A3C3C4}"/>
              </a:ext>
            </a:extLst>
          </p:cNvPr>
          <p:cNvSpPr txBox="1"/>
          <p:nvPr/>
        </p:nvSpPr>
        <p:spPr>
          <a:xfrm>
            <a:off x="6929435" y="3052705"/>
            <a:ext cx="9992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 Page -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portal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pengajuan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gangguan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pelacakan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perbaikan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transparan</a:t>
            </a:r>
            <a:r>
              <a:rPr lang="en-ID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939A1-57BD-9901-32C7-5BAD1904C3DB}"/>
              </a:ext>
            </a:extLst>
          </p:cNvPr>
          <p:cNvSpPr txBox="1"/>
          <p:nvPr/>
        </p:nvSpPr>
        <p:spPr>
          <a:xfrm>
            <a:off x="5325871" y="5802977"/>
            <a:ext cx="9992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 -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Membatasi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ID" sz="28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back-office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(Filament Admin Panel)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terotorisasi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8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autentikasi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terenkripsi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3" name="Google Shape;193;p28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94" name="Google Shape;194;p28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28"/>
          <p:cNvSpPr txBox="1"/>
          <p:nvPr/>
        </p:nvSpPr>
        <p:spPr>
          <a:xfrm>
            <a:off x="5583409" y="1127121"/>
            <a:ext cx="7121182" cy="82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Hasil &amp;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Pembahasan</a:t>
            </a:r>
            <a:endParaRPr dirty="0"/>
          </a:p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Manajemen</a:t>
            </a:r>
            <a:r>
              <a:rPr lang="en-US" sz="1400" b="1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400" b="1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keluhan</a:t>
            </a:r>
            <a:r>
              <a:rPr lang="en-US" sz="1400" b="1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(Data </a:t>
            </a:r>
            <a:r>
              <a:rPr lang="en-US" sz="1400" b="1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Laporan</a:t>
            </a:r>
            <a:r>
              <a:rPr lang="en-US" sz="1400" b="1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1400" b="1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42996" y="2293267"/>
            <a:ext cx="16989476" cy="6635234"/>
          </a:xfrm>
          <a:custGeom>
            <a:avLst/>
            <a:gdLst/>
            <a:ahLst/>
            <a:cxnLst/>
            <a:rect l="l" t="t" r="r" b="b"/>
            <a:pathLst>
              <a:path w="1684175" h="230214" extrusionOk="0">
                <a:moveTo>
                  <a:pt x="39728" y="0"/>
                </a:moveTo>
                <a:lnTo>
                  <a:pt x="1644447" y="0"/>
                </a:lnTo>
                <a:cubicBezTo>
                  <a:pt x="1666388" y="0"/>
                  <a:pt x="1684175" y="17787"/>
                  <a:pt x="1684175" y="39728"/>
                </a:cubicBezTo>
                <a:lnTo>
                  <a:pt x="1684175" y="190486"/>
                </a:lnTo>
                <a:cubicBezTo>
                  <a:pt x="1684175" y="212427"/>
                  <a:pt x="1666388" y="230214"/>
                  <a:pt x="1644447" y="230214"/>
                </a:cubicBezTo>
                <a:lnTo>
                  <a:pt x="39728" y="230214"/>
                </a:lnTo>
                <a:cubicBezTo>
                  <a:pt x="17787" y="230214"/>
                  <a:pt x="0" y="212427"/>
                  <a:pt x="0" y="190486"/>
                </a:cubicBezTo>
                <a:lnTo>
                  <a:pt x="0" y="39728"/>
                </a:lnTo>
                <a:cubicBezTo>
                  <a:pt x="0" y="17787"/>
                  <a:pt x="17787" y="0"/>
                  <a:pt x="39728" y="0"/>
                </a:cubicBezTo>
                <a:close/>
              </a:path>
            </a:pathLst>
          </a:custGeom>
          <a:solidFill>
            <a:srgbClr val="3F41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10715254" y="4064901"/>
            <a:ext cx="623064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terpusat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 Utama: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tiket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(BRS-XXXX),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pencarian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status (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Open/Resolved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ECBE8-021D-A2DA-AC4D-58E62FC32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92" y="2857798"/>
            <a:ext cx="9857666" cy="528420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0" name="Google Shape;240;p31"/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241" name="Google Shape;241;p31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1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31"/>
          <p:cNvSpPr txBox="1"/>
          <p:nvPr/>
        </p:nvSpPr>
        <p:spPr>
          <a:xfrm>
            <a:off x="5700975" y="1156721"/>
            <a:ext cx="7121182" cy="82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Hasil &amp;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Pembahasan</a:t>
            </a:r>
            <a:endParaRPr dirty="0"/>
          </a:p>
          <a:p>
            <a:pPr lvl="0" algn="ctr">
              <a:lnSpc>
                <a:spcPct val="116004"/>
              </a:lnSpc>
            </a:pPr>
            <a:r>
              <a:rPr lang="en-ID" b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Formulir</a:t>
            </a:r>
            <a:r>
              <a:rPr lang="en-ID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Pembuatan</a:t>
            </a:r>
            <a:r>
              <a:rPr lang="en-ID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Tiket</a:t>
            </a:r>
            <a:r>
              <a:rPr lang="en-ID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Gangguan</a:t>
            </a:r>
            <a:endParaRPr sz="1400" b="1" i="0" u="none" strike="noStrike" cap="non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Condensed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31"/>
          <p:cNvGrpSpPr/>
          <p:nvPr/>
        </p:nvGrpSpPr>
        <p:grpSpPr>
          <a:xfrm>
            <a:off x="766828" y="2299340"/>
            <a:ext cx="16989476" cy="8763658"/>
            <a:chOff x="0" y="0"/>
            <a:chExt cx="1684175" cy="335902"/>
          </a:xfrm>
        </p:grpSpPr>
        <p:sp>
          <p:nvSpPr>
            <p:cNvPr id="246" name="Google Shape;246;p31"/>
            <p:cNvSpPr/>
            <p:nvPr/>
          </p:nvSpPr>
          <p:spPr>
            <a:xfrm>
              <a:off x="0" y="0"/>
              <a:ext cx="1684175" cy="268977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1"/>
            <p:cNvSpPr txBox="1"/>
            <p:nvPr/>
          </p:nvSpPr>
          <p:spPr>
            <a:xfrm>
              <a:off x="0" y="20112"/>
              <a:ext cx="1684175" cy="315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31"/>
          <p:cNvSpPr txBox="1"/>
          <p:nvPr/>
        </p:nvSpPr>
        <p:spPr>
          <a:xfrm>
            <a:off x="7970029" y="4515473"/>
            <a:ext cx="9401268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ID" sz="28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Formulir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non-login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mendata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identitas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kendala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rincian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alamat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ID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 Utama: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Integrasi Geolocation API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mengunci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koordinat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BF01C2-3F7C-43C9-F75E-63CB09D13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939" y="2571360"/>
            <a:ext cx="6210083" cy="644795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0AEAEFDF-6AA7-240E-27AF-312D7063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>
            <a:extLst>
              <a:ext uri="{FF2B5EF4-FFF2-40B4-BE49-F238E27FC236}">
                <a16:creationId xmlns:a16="http://schemas.microsoft.com/office/drawing/2014/main" id="{B3D02720-4E3B-6FE6-7C71-DCDD5D7614A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>
            <a:extLst>
              <a:ext uri="{FF2B5EF4-FFF2-40B4-BE49-F238E27FC236}">
                <a16:creationId xmlns:a16="http://schemas.microsoft.com/office/drawing/2014/main" id="{67CB2A36-C434-7E20-4E6D-BA35B23EF09A}"/>
              </a:ext>
            </a:extLst>
          </p:cNvPr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0" name="Google Shape;240;p31">
            <a:extLst>
              <a:ext uri="{FF2B5EF4-FFF2-40B4-BE49-F238E27FC236}">
                <a16:creationId xmlns:a16="http://schemas.microsoft.com/office/drawing/2014/main" id="{524E0EF5-2129-0FC0-E8F5-425F4D98BC56}"/>
              </a:ext>
            </a:extLst>
          </p:cNvPr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241" name="Google Shape;241;p31">
              <a:extLst>
                <a:ext uri="{FF2B5EF4-FFF2-40B4-BE49-F238E27FC236}">
                  <a16:creationId xmlns:a16="http://schemas.microsoft.com/office/drawing/2014/main" id="{EF1B9338-A6A0-5C7C-AA0B-9FF9299E9DA2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1">
              <a:extLst>
                <a:ext uri="{FF2B5EF4-FFF2-40B4-BE49-F238E27FC236}">
                  <a16:creationId xmlns:a16="http://schemas.microsoft.com/office/drawing/2014/main" id="{B9959323-69C0-B005-5051-805599D9A3CF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31">
            <a:extLst>
              <a:ext uri="{FF2B5EF4-FFF2-40B4-BE49-F238E27FC236}">
                <a16:creationId xmlns:a16="http://schemas.microsoft.com/office/drawing/2014/main" id="{4CCF2E8B-FBEF-818D-49C3-083D1FCA18C3}"/>
              </a:ext>
            </a:extLst>
          </p:cNvPr>
          <p:cNvSpPr txBox="1"/>
          <p:nvPr/>
        </p:nvSpPr>
        <p:spPr>
          <a:xfrm>
            <a:off x="5700975" y="1156721"/>
            <a:ext cx="7121182" cy="82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Hasil &amp;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Pembahasan</a:t>
            </a:r>
            <a:endParaRPr dirty="0"/>
          </a:p>
          <a:p>
            <a:pPr lvl="0" algn="ctr">
              <a:lnSpc>
                <a:spcPct val="116004"/>
              </a:lnSpc>
            </a:pPr>
            <a:r>
              <a:rPr lang="en-ID" sz="1400" b="1" i="0" u="none" strike="noStrike" cap="none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Berhasil</a:t>
            </a:r>
            <a:r>
              <a:rPr lang="en-ID" sz="1400" b="1" i="0" u="none" strike="noStrike" cap="none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 </a:t>
            </a:r>
            <a:r>
              <a:rPr lang="en-ID" sz="1400" b="1" i="0" u="none" strike="noStrike" cap="none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Menginput</a:t>
            </a:r>
            <a:r>
              <a:rPr lang="en-ID" sz="1400" b="1" i="0" u="none" strike="noStrike" cap="none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 Ticket</a:t>
            </a:r>
            <a:endParaRPr sz="1400" b="1" i="0" u="none" strike="noStrike" cap="non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Condensed"/>
            </a:endParaRPr>
          </a:p>
        </p:txBody>
      </p:sp>
      <p:sp>
        <p:nvSpPr>
          <p:cNvPr id="244" name="Google Shape;244;p31">
            <a:extLst>
              <a:ext uri="{FF2B5EF4-FFF2-40B4-BE49-F238E27FC236}">
                <a16:creationId xmlns:a16="http://schemas.microsoft.com/office/drawing/2014/main" id="{7ED1FCF1-E736-7534-44CC-C924CC5A4D46}"/>
              </a:ext>
            </a:extLst>
          </p:cNvPr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31">
            <a:extLst>
              <a:ext uri="{FF2B5EF4-FFF2-40B4-BE49-F238E27FC236}">
                <a16:creationId xmlns:a16="http://schemas.microsoft.com/office/drawing/2014/main" id="{E59202CC-935B-AEBA-4706-0E232943B1EE}"/>
              </a:ext>
            </a:extLst>
          </p:cNvPr>
          <p:cNvGrpSpPr/>
          <p:nvPr/>
        </p:nvGrpSpPr>
        <p:grpSpPr>
          <a:xfrm>
            <a:off x="766828" y="2299340"/>
            <a:ext cx="16989476" cy="8763658"/>
            <a:chOff x="0" y="0"/>
            <a:chExt cx="1684175" cy="335902"/>
          </a:xfrm>
        </p:grpSpPr>
        <p:sp>
          <p:nvSpPr>
            <p:cNvPr id="246" name="Google Shape;246;p31">
              <a:extLst>
                <a:ext uri="{FF2B5EF4-FFF2-40B4-BE49-F238E27FC236}">
                  <a16:creationId xmlns:a16="http://schemas.microsoft.com/office/drawing/2014/main" id="{538061F1-6E39-F07E-5B13-787C84B52AF2}"/>
                </a:ext>
              </a:extLst>
            </p:cNvPr>
            <p:cNvSpPr/>
            <p:nvPr/>
          </p:nvSpPr>
          <p:spPr>
            <a:xfrm>
              <a:off x="0" y="0"/>
              <a:ext cx="1684175" cy="268977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1">
              <a:extLst>
                <a:ext uri="{FF2B5EF4-FFF2-40B4-BE49-F238E27FC236}">
                  <a16:creationId xmlns:a16="http://schemas.microsoft.com/office/drawing/2014/main" id="{D1FC302A-C185-88DF-87D9-34CD937AAE4D}"/>
                </a:ext>
              </a:extLst>
            </p:cNvPr>
            <p:cNvSpPr txBox="1"/>
            <p:nvPr/>
          </p:nvSpPr>
          <p:spPr>
            <a:xfrm>
              <a:off x="0" y="20112"/>
              <a:ext cx="1684175" cy="315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FECFE0A-3207-B133-DE12-99A704B2C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727" y="3284269"/>
            <a:ext cx="10575503" cy="4989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D7629D-017F-079D-8A28-637AA43874B3}"/>
              </a:ext>
            </a:extLst>
          </p:cNvPr>
          <p:cNvSpPr txBox="1"/>
          <p:nvPr/>
        </p:nvSpPr>
        <p:spPr>
          <a:xfrm>
            <a:off x="12163298" y="4146141"/>
            <a:ext cx="48857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umpan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notification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 Utama: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tiket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BRS0006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yang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"Cek Status"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perbaikan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D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98249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4" name="Google Shape;224;p30"/>
          <p:cNvGrpSpPr/>
          <p:nvPr/>
        </p:nvGrpSpPr>
        <p:grpSpPr>
          <a:xfrm>
            <a:off x="5465432" y="449546"/>
            <a:ext cx="7727880" cy="1270640"/>
            <a:chOff x="0" y="-57150"/>
            <a:chExt cx="1747717" cy="287364"/>
          </a:xfrm>
        </p:grpSpPr>
        <p:sp>
          <p:nvSpPr>
            <p:cNvPr id="225" name="Google Shape;225;p30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0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30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30"/>
          <p:cNvGrpSpPr/>
          <p:nvPr/>
        </p:nvGrpSpPr>
        <p:grpSpPr>
          <a:xfrm>
            <a:off x="0" y="1864144"/>
            <a:ext cx="17757058" cy="9816471"/>
            <a:chOff x="-65949" y="-41922"/>
            <a:chExt cx="1751712" cy="300711"/>
          </a:xfrm>
        </p:grpSpPr>
        <p:sp>
          <p:nvSpPr>
            <p:cNvPr id="229" name="Google Shape;229;p30"/>
            <p:cNvSpPr/>
            <p:nvPr/>
          </p:nvSpPr>
          <p:spPr>
            <a:xfrm>
              <a:off x="1588" y="-41922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0"/>
            <p:cNvSpPr txBox="1"/>
            <p:nvPr/>
          </p:nvSpPr>
          <p:spPr>
            <a:xfrm>
              <a:off x="-65949" y="-28575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231" name="Google Shape;231;p30"/>
          <p:cNvSpPr txBox="1"/>
          <p:nvPr/>
        </p:nvSpPr>
        <p:spPr>
          <a:xfrm>
            <a:off x="11419745" y="3342914"/>
            <a:ext cx="5199765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8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Mengonversi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koordinat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GPS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tautan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D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 Utama: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link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Google Maps pada </a:t>
            </a:r>
            <a:r>
              <a:rPr lang="en-ID" sz="28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internal agar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membuka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rute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navigasi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sekali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klik</a:t>
            </a:r>
            <a:r>
              <a:rPr lang="en-ID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32" name="Google Shape;232;p30"/>
          <p:cNvSpPr txBox="1"/>
          <p:nvPr/>
        </p:nvSpPr>
        <p:spPr>
          <a:xfrm>
            <a:off x="5859855" y="763240"/>
            <a:ext cx="6907001" cy="94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Hasil &amp;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Pembahasan</a:t>
            </a:r>
            <a:endParaRPr dirty="0"/>
          </a:p>
          <a:p>
            <a:pPr lvl="0" algn="ctr">
              <a:lnSpc>
                <a:spcPct val="116004"/>
              </a:lnSpc>
              <a:buSzPts val="1400"/>
            </a:pPr>
            <a:r>
              <a:rPr lang="en-ID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Integrasi </a:t>
            </a:r>
            <a:r>
              <a:rPr lang="en-ID" sz="1600" b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Titik</a:t>
            </a:r>
            <a:r>
              <a:rPr lang="en-ID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Lokasi (</a:t>
            </a:r>
            <a:r>
              <a:rPr lang="en-ID" sz="1600" b="1" i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Google Maps</a:t>
            </a:r>
            <a:r>
              <a:rPr lang="en-ID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)</a:t>
            </a:r>
            <a:endParaRPr sz="1600" b="1" i="0" u="none" strike="noStrike" cap="non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06F35-E080-86ED-0ABA-909A1AC77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110" y="2001102"/>
            <a:ext cx="3597958" cy="2683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97EBAB-107A-D35F-DFB3-3FCEF5CBC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897" y="4821685"/>
            <a:ext cx="8470384" cy="425064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17432472" y="653574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56" name="Google Shape;256;p32"/>
          <p:cNvGrpSpPr/>
          <p:nvPr/>
        </p:nvGrpSpPr>
        <p:grpSpPr>
          <a:xfrm>
            <a:off x="5280060" y="789062"/>
            <a:ext cx="7727880" cy="1270640"/>
            <a:chOff x="0" y="-57150"/>
            <a:chExt cx="1747717" cy="287364"/>
          </a:xfrm>
        </p:grpSpPr>
        <p:sp>
          <p:nvSpPr>
            <p:cNvPr id="257" name="Google Shape;257;p3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32"/>
          <p:cNvSpPr txBox="1"/>
          <p:nvPr/>
        </p:nvSpPr>
        <p:spPr>
          <a:xfrm>
            <a:off x="5579125" y="1252045"/>
            <a:ext cx="7309631" cy="64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Kesimpulan</a:t>
            </a:r>
            <a:endParaRPr sz="3600" b="1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5579125" y="9739660"/>
            <a:ext cx="11040385" cy="547349"/>
          </a:xfrm>
          <a:custGeom>
            <a:avLst/>
            <a:gdLst/>
            <a:ahLst/>
            <a:cxnLst/>
            <a:rect l="l" t="t" r="r" b="b"/>
            <a:pathLst>
              <a:path w="2718704" h="185498" extrusionOk="0">
                <a:moveTo>
                  <a:pt x="14726" y="0"/>
                </a:moveTo>
                <a:lnTo>
                  <a:pt x="2703978" y="0"/>
                </a:lnTo>
                <a:cubicBezTo>
                  <a:pt x="2712111" y="0"/>
                  <a:pt x="2718704" y="6593"/>
                  <a:pt x="2718704" y="14726"/>
                </a:cubicBezTo>
                <a:lnTo>
                  <a:pt x="2718704" y="170772"/>
                </a:lnTo>
                <a:cubicBezTo>
                  <a:pt x="2718704" y="178905"/>
                  <a:pt x="2712111" y="185498"/>
                  <a:pt x="2703978" y="185498"/>
                </a:cubicBezTo>
                <a:lnTo>
                  <a:pt x="14726" y="185498"/>
                </a:lnTo>
                <a:cubicBezTo>
                  <a:pt x="6593" y="185498"/>
                  <a:pt x="0" y="178905"/>
                  <a:pt x="0" y="170772"/>
                </a:cubicBezTo>
                <a:lnTo>
                  <a:pt x="0" y="14726"/>
                </a:lnTo>
                <a:cubicBezTo>
                  <a:pt x="0" y="6593"/>
                  <a:pt x="6593" y="0"/>
                  <a:pt x="14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32"/>
          <p:cNvGrpSpPr/>
          <p:nvPr/>
        </p:nvGrpSpPr>
        <p:grpSpPr>
          <a:xfrm>
            <a:off x="649257" y="2822631"/>
            <a:ext cx="17211547" cy="7437098"/>
            <a:chOff x="42404" y="-29381"/>
            <a:chExt cx="1706189" cy="311605"/>
          </a:xfrm>
        </p:grpSpPr>
        <p:sp>
          <p:nvSpPr>
            <p:cNvPr id="262" name="Google Shape;262;p32"/>
            <p:cNvSpPr/>
            <p:nvPr/>
          </p:nvSpPr>
          <p:spPr>
            <a:xfrm>
              <a:off x="42404" y="-29381"/>
              <a:ext cx="1684175" cy="230214"/>
            </a:xfrm>
            <a:custGeom>
              <a:avLst/>
              <a:gdLst/>
              <a:ahLst/>
              <a:cxnLst/>
              <a:rect l="l" t="t" r="r" b="b"/>
              <a:pathLst>
                <a:path w="1684175" h="230214" extrusionOk="0">
                  <a:moveTo>
                    <a:pt x="39728" y="0"/>
                  </a:moveTo>
                  <a:lnTo>
                    <a:pt x="1644447" y="0"/>
                  </a:lnTo>
                  <a:cubicBezTo>
                    <a:pt x="1666388" y="0"/>
                    <a:pt x="1684175" y="17787"/>
                    <a:pt x="1684175" y="39728"/>
                  </a:cubicBezTo>
                  <a:lnTo>
                    <a:pt x="1684175" y="190486"/>
                  </a:lnTo>
                  <a:cubicBezTo>
                    <a:pt x="1684175" y="212427"/>
                    <a:pt x="1666388" y="230214"/>
                    <a:pt x="1644447" y="230214"/>
                  </a:cubicBezTo>
                  <a:lnTo>
                    <a:pt x="39728" y="230214"/>
                  </a:lnTo>
                  <a:cubicBezTo>
                    <a:pt x="17787" y="230214"/>
                    <a:pt x="0" y="212427"/>
                    <a:pt x="0" y="190486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85750" marR="0" lvl="0" indent="-196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2"/>
            <p:cNvSpPr txBox="1"/>
            <p:nvPr/>
          </p:nvSpPr>
          <p:spPr>
            <a:xfrm>
              <a:off x="64418" y="-5140"/>
              <a:ext cx="1684175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264" name="Google Shape;264;p32"/>
          <p:cNvSpPr txBox="1"/>
          <p:nvPr/>
        </p:nvSpPr>
        <p:spPr>
          <a:xfrm>
            <a:off x="2104105" y="3244903"/>
            <a:ext cx="1409559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Otomatisasi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Alur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Sentralisasi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ID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Menggantikan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rekapitulasi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WhatsApp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ticketing system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terpusat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terintegrasi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penuh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Efisiensi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Geospasial</a:t>
            </a:r>
            <a:endParaRPr lang="en-ID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Penguncian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koordinat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link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Google Maps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terbukti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memangkas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pencarian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alamat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Ketangguhan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Performa High Availability</a:t>
            </a:r>
            <a:endParaRPr lang="en-ID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Master-Slave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memisahkan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jalur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Read/Write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D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Optimalisasi</a:t>
            </a:r>
            <a:r>
              <a:rPr lang="en-ID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Experience (UX) Modern</a:t>
            </a:r>
            <a:endParaRPr lang="en-ID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Adopsi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TALL Stack (Tailwind, Alpine, Laravel, Livewire) via Filament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menghadirkan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panel admin yang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responsif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ramah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-625"/>
            <a:ext cx="14574774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2488" b="-3798"/>
            </a:stretch>
          </a:blipFill>
          <a:ln>
            <a:noFill/>
          </a:ln>
        </p:spPr>
      </p:sp>
      <p:grpSp>
        <p:nvGrpSpPr>
          <p:cNvPr id="270" name="Google Shape;270;p12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271" name="Google Shape;271;p12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272" name="Google Shape;272;p12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2"/>
          <p:cNvSpPr/>
          <p:nvPr/>
        </p:nvSpPr>
        <p:spPr>
          <a:xfrm>
            <a:off x="13539900" y="136755"/>
            <a:ext cx="4494826" cy="1515697"/>
          </a:xfrm>
          <a:custGeom>
            <a:avLst/>
            <a:gdLst/>
            <a:ahLst/>
            <a:cxnLst/>
            <a:rect l="l" t="t" r="r" b="b"/>
            <a:pathLst>
              <a:path w="4494826" h="1515697" extrusionOk="0">
                <a:moveTo>
                  <a:pt x="0" y="0"/>
                </a:moveTo>
                <a:lnTo>
                  <a:pt x="4494826" y="0"/>
                </a:lnTo>
                <a:lnTo>
                  <a:pt x="4494826" y="1515697"/>
                </a:lnTo>
                <a:lnTo>
                  <a:pt x="0" y="1515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4" name="Google Shape;274;p12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275" name="Google Shape;275;p12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276" name="Google Shape;276;p12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2"/>
          <p:cNvSpPr txBox="1"/>
          <p:nvPr/>
        </p:nvSpPr>
        <p:spPr>
          <a:xfrm>
            <a:off x="7739595" y="4369348"/>
            <a:ext cx="97776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8"/>
              <a:buFont typeface="Arial"/>
              <a:buNone/>
            </a:pPr>
            <a:r>
              <a:rPr lang="en-US" sz="10058" b="0" i="0" u="none" strike="noStrike" cap="none" dirty="0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 sz="14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768</Words>
  <Application>Microsoft Office PowerPoint</Application>
  <PresentationFormat>Custom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Roboto Condensed</vt:lpstr>
      <vt:lpstr>Wingdings</vt:lpstr>
      <vt:lpstr>Noto Sans Symbols</vt:lpstr>
      <vt:lpstr>Arial</vt:lpstr>
      <vt:lpstr>Poppins</vt:lpstr>
      <vt:lpstr>Poppins Medium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Ghebrann Albaihaqi</dc:creator>
  <cp:lastModifiedBy>Radith Yafi Valerian</cp:lastModifiedBy>
  <cp:revision>4</cp:revision>
  <dcterms:created xsi:type="dcterms:W3CDTF">2006-08-16T00:00:00Z</dcterms:created>
  <dcterms:modified xsi:type="dcterms:W3CDTF">2026-08-03T14:00:29Z</dcterms:modified>
</cp:coreProperties>
</file>